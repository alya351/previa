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005840"/>
            <a:ext cx="3475449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520440"/>
            <a:ext cx="121916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E8ECF5"/>
                </a:solidFill>
                <a:latin typeface="Segoe UI"/>
              </a:rPr>
              <a:t>SENTINEL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FA8F5"/>
                </a:solidFill>
                <a:latin typeface="Segoe UI"/>
              </a:rPr>
              <a:t>VOIR AVANT — AGIR À TEMPS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7C90B8"/>
                </a:solidFill>
                <a:latin typeface="Segoe UI"/>
              </a:rPr>
              <a:t>Tech Impact — Orange Summer Challenge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A8F5"/>
                </a:solidFill>
                <a:latin typeface="Segoe UI"/>
              </a:rPr>
              <a:t>CONSTAT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8ECF5"/>
                </a:solidFill>
                <a:latin typeface="Segoe UI"/>
              </a:rPr>
              <a:t>La vidéosurveillance ne comprend rien à ce qu'elle filme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45920"/>
            <a:ext cx="822960" cy="38100"/>
          </a:xfrm>
          <a:prstGeom prst="rect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E8ECF5"/>
                </a:solidFill>
                <a:latin typeface="Segoe UI"/>
              </a:rPr>
              <a:t>Une caméra enregistre. Un détecteur de mouvement réagit à un déplacement,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E8ECF5"/>
                </a:solidFill>
                <a:latin typeface="Segoe UI"/>
              </a:rPr>
              <a:t>jamais à une situation.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E8ECF5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E8ECF5"/>
                </a:solidFill>
                <a:latin typeface="Segoe UI"/>
              </a:rPr>
              <a:t>Résultat : on découvre toujours après coup — une fois le vol,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E8ECF5"/>
                </a:solidFill>
                <a:latin typeface="Segoe UI"/>
              </a:rPr>
              <a:t>le cambriolage ou l'agression déjà commis.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C90B8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C90B8"/>
                </a:solidFill>
                <a:latin typeface="Segoe UI"/>
              </a:rPr>
              <a:t>SENTINEL 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A8F5"/>
                </a:solidFill>
                <a:latin typeface="Segoe UI"/>
              </a:rPr>
              <a:t>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8ECF5"/>
                </a:solidFill>
                <a:latin typeface="Segoe UI"/>
              </a:rPr>
              <a:t>Faire passer la caméra d'un témoin à une vigie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45920"/>
            <a:ext cx="822960" cy="38100"/>
          </a:xfrm>
          <a:prstGeom prst="rect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0B1433"/>
          </a:solidFill>
          <a:ln w="12700">
            <a:solidFill>
              <a:srgbClr val="1B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560320"/>
            <a:ext cx="22768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FA8F5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63240"/>
            <a:ext cx="227685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ECF5"/>
                </a:solidFill>
                <a:latin typeface="Segoe UI"/>
              </a:rPr>
              <a:t>Comportement, pas identité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114800"/>
            <a:ext cx="2276856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7C90B8"/>
                </a:solidFill>
                <a:latin typeface="Segoe UI"/>
              </a:rPr>
              <a:t>Observer la posture et les gestes, pas reconnaître un visage.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228600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0B1433"/>
          </a:solidFill>
          <a:ln w="12700">
            <a:solidFill>
              <a:srgbClr val="1B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560320"/>
            <a:ext cx="22768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FA8F5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063240"/>
            <a:ext cx="227685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ECF5"/>
                </a:solidFill>
                <a:latin typeface="Segoe UI"/>
              </a:rPr>
              <a:t>Signaux avant l'acte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114800"/>
            <a:ext cx="2276856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7C90B8"/>
                </a:solidFill>
                <a:latin typeface="Segoe UI"/>
              </a:rPr>
              <a:t>Repérer ce qui précède une situation à risque.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228600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0B1433"/>
          </a:solidFill>
          <a:ln w="12700">
            <a:solidFill>
              <a:srgbClr val="1B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560320"/>
            <a:ext cx="22768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FA8F5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063240"/>
            <a:ext cx="227685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ECF5"/>
                </a:solidFill>
                <a:latin typeface="Segoe UI"/>
              </a:rPr>
              <a:t>Un humain décide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114800"/>
            <a:ext cx="2276856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7C90B8"/>
                </a:solidFill>
                <a:latin typeface="Segoe UI"/>
              </a:rPr>
              <a:t>Le système alerte, il ne décide jamais seul.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1704" y="2286000"/>
            <a:ext cx="2606040" cy="3108960"/>
          </a:xfrm>
          <a:prstGeom prst="roundRect">
            <a:avLst>
              <a:gd name="adj" fmla="val 6000"/>
            </a:avLst>
          </a:prstGeom>
          <a:solidFill>
            <a:srgbClr val="0B1433"/>
          </a:solidFill>
          <a:ln w="12700">
            <a:solidFill>
              <a:srgbClr val="1B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26296" y="2560320"/>
            <a:ext cx="22768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FA8F5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3063240"/>
            <a:ext cx="227685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ECF5"/>
                </a:solidFill>
                <a:latin typeface="Segoe UI"/>
              </a:rPr>
              <a:t>Réponse selon la gravité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4114800"/>
            <a:ext cx="2276856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7C90B8"/>
                </a:solidFill>
                <a:latin typeface="Segoe UI"/>
              </a:rPr>
              <a:t>Notification simple, ou appel vocal si c'est critique.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C90B8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C90B8"/>
                </a:solidFill>
                <a:latin typeface="Segoe UI"/>
              </a:rPr>
              <a:t>SENTINEL 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A8F5"/>
                </a:solidFill>
                <a:latin typeface="Segoe UI"/>
              </a:rPr>
              <a:t>FONCTIONNEMENT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8ECF5"/>
                </a:solidFill>
                <a:latin typeface="Segoe UI"/>
              </a:rPr>
              <a:t>Une chaîne d'analyse, pas un simple détecteur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45920"/>
            <a:ext cx="822960" cy="38100"/>
          </a:xfrm>
          <a:prstGeom prst="rect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5167" y="2834640"/>
            <a:ext cx="3017520" cy="1463040"/>
          </a:xfrm>
          <a:prstGeom prst="roundRect">
            <a:avLst/>
          </a:prstGeom>
          <a:solidFill>
            <a:srgbClr val="0B1433"/>
          </a:solidFill>
          <a:ln w="15875">
            <a:solidFill>
              <a:srgbClr val="2A6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E8ECF5"/>
                </a:solidFill>
              </a:rPr>
              <a:t>Caméra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7C90B8"/>
                </a:solidFill>
              </a:rPr>
              <a:t>IP ou téléphone, réseau existant</a:t>
            </a:r>
          </a:p>
        </p:txBody>
      </p:sp>
      <p:sp>
        <p:nvSpPr>
          <p:cNvPr id="7" name="Chevron 6"/>
          <p:cNvSpPr/>
          <p:nvPr/>
        </p:nvSpPr>
        <p:spPr>
          <a:xfrm>
            <a:off x="3745839" y="3337560"/>
            <a:ext cx="777240" cy="457200"/>
          </a:xfrm>
          <a:prstGeom prst="chevron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87087" y="2834640"/>
            <a:ext cx="3017520" cy="1463040"/>
          </a:xfrm>
          <a:prstGeom prst="roundRect">
            <a:avLst/>
          </a:prstGeom>
          <a:solidFill>
            <a:srgbClr val="0B1433"/>
          </a:solidFill>
          <a:ln w="15875">
            <a:solidFill>
              <a:srgbClr val="2A6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E8ECF5"/>
                </a:solidFill>
              </a:rPr>
              <a:t>Chaîne d'analyse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7C90B8"/>
                </a:solidFill>
              </a:rPr>
              <a:t>13 modèles en parallèle + fiche par personne</a:t>
            </a:r>
          </a:p>
        </p:txBody>
      </p:sp>
      <p:sp>
        <p:nvSpPr>
          <p:cNvPr id="9" name="Chevron 8"/>
          <p:cNvSpPr/>
          <p:nvPr/>
        </p:nvSpPr>
        <p:spPr>
          <a:xfrm>
            <a:off x="7677759" y="3337560"/>
            <a:ext cx="777240" cy="457200"/>
          </a:xfrm>
          <a:prstGeom prst="chevron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19007" y="2834640"/>
            <a:ext cx="3017520" cy="1463040"/>
          </a:xfrm>
          <a:prstGeom prst="roundRect">
            <a:avLst/>
          </a:prstGeom>
          <a:solidFill>
            <a:srgbClr val="0B1433"/>
          </a:solidFill>
          <a:ln w="15875">
            <a:solidFill>
              <a:srgbClr val="2A6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E8ECF5"/>
                </a:solidFill>
              </a:rPr>
              <a:t>Alerte graduée</a:t>
            </a:r>
          </a:p>
          <a:p>
            <a:pPr algn="ctr">
              <a:spcBef>
                <a:spcPts val="600"/>
              </a:spcBef>
            </a:pPr>
            <a:r>
              <a:rPr sz="1200">
                <a:solidFill>
                  <a:srgbClr val="7C90B8"/>
                </a:solidFill>
              </a:rPr>
              <a:t>Notification, ou appel vocal si critique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920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6FA8F5"/>
                </a:solidFill>
                <a:latin typeface="Segoe UI"/>
              </a:rPr>
              <a:t>Le système ne décrit que des faits observés — jamais une supposition présentée comme un fait.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C90B8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C90B8"/>
                </a:solidFill>
                <a:latin typeface="Segoe UI"/>
              </a:rPr>
              <a:t>SENTINEL 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A8F5"/>
                </a:solidFill>
                <a:latin typeface="Segoe UI"/>
              </a:rPr>
              <a:t>LA CHAÎNE D'IA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8ECF5"/>
                </a:solidFill>
                <a:latin typeface="Segoe UI"/>
              </a:rPr>
              <a:t>Chaque modèle a un rôle précis, pas une boîte noire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45920"/>
            <a:ext cx="822960" cy="38100"/>
          </a:xfrm>
          <a:prstGeom prst="rect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3520440" cy="1051560"/>
          </a:xfrm>
          <a:prstGeom prst="roundRect">
            <a:avLst>
              <a:gd name="adj" fmla="val 10000"/>
            </a:avLst>
          </a:prstGeom>
          <a:solidFill>
            <a:srgbClr val="0B1433"/>
          </a:solidFill>
          <a:ln w="12700">
            <a:solidFill>
              <a:srgbClr val="1B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585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FA8F5"/>
                </a:solidFill>
                <a:latin typeface="Segoe UI"/>
              </a:rPr>
              <a:t>La Sentinelle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E8ECF5"/>
                </a:solidFill>
                <a:latin typeface="Segoe UI"/>
              </a:rPr>
              <a:t>Armes et objets dangereux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48840"/>
            <a:ext cx="3520440" cy="1051560"/>
          </a:xfrm>
          <a:prstGeom prst="roundRect">
            <a:avLst>
              <a:gd name="adj" fmla="val 10000"/>
            </a:avLst>
          </a:prstGeom>
          <a:solidFill>
            <a:srgbClr val="0B1433"/>
          </a:solidFill>
          <a:ln w="12700">
            <a:solidFill>
              <a:srgbClr val="1B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2585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FA8F5"/>
                </a:solidFill>
                <a:latin typeface="Segoe UI"/>
              </a:rPr>
              <a:t>Le Guetteur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E8ECF5"/>
                </a:solidFill>
                <a:latin typeface="Segoe UI"/>
              </a:rPr>
              <a:t>Feu et fumée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48840"/>
            <a:ext cx="3520440" cy="1051560"/>
          </a:xfrm>
          <a:prstGeom prst="roundRect">
            <a:avLst>
              <a:gd name="adj" fmla="val 10000"/>
            </a:avLst>
          </a:prstGeom>
          <a:solidFill>
            <a:srgbClr val="0B1433"/>
          </a:solidFill>
          <a:ln w="12700">
            <a:solidFill>
              <a:srgbClr val="1B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2585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FA8F5"/>
                </a:solidFill>
                <a:latin typeface="Segoe UI"/>
              </a:rPr>
              <a:t>L'Arbitre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5176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E8ECF5"/>
                </a:solidFill>
                <a:latin typeface="Segoe UI"/>
              </a:rPr>
              <a:t>Bagarre, comportement violent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83280"/>
            <a:ext cx="3520440" cy="1051560"/>
          </a:xfrm>
          <a:prstGeom prst="roundRect">
            <a:avLst>
              <a:gd name="adj" fmla="val 10000"/>
            </a:avLst>
          </a:prstGeom>
          <a:solidFill>
            <a:srgbClr val="0B1433"/>
          </a:solidFill>
          <a:ln w="12700">
            <a:solidFill>
              <a:srgbClr val="1B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9300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FA8F5"/>
                </a:solidFill>
                <a:latin typeface="Segoe UI"/>
              </a:rPr>
              <a:t>Le Physionomiste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E8ECF5"/>
                </a:solidFill>
                <a:latin typeface="Segoe UI"/>
              </a:rPr>
              <a:t>Reconnaît un visage déjà croisé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383280"/>
            <a:ext cx="3520440" cy="1051560"/>
          </a:xfrm>
          <a:prstGeom prst="roundRect">
            <a:avLst>
              <a:gd name="adj" fmla="val 10000"/>
            </a:avLst>
          </a:prstGeom>
          <a:solidFill>
            <a:srgbClr val="0B1433"/>
          </a:solidFill>
          <a:ln w="12700">
            <a:solidFill>
              <a:srgbClr val="1B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49300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FA8F5"/>
                </a:solidFill>
                <a:latin typeface="Segoe UI"/>
              </a:rPr>
              <a:t>Le Profileur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88620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E8ECF5"/>
                </a:solidFill>
                <a:latin typeface="Segoe UI"/>
              </a:rPr>
              <a:t>Fiche par personne : genre, expression, tenue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383280"/>
            <a:ext cx="3520440" cy="1051560"/>
          </a:xfrm>
          <a:prstGeom prst="roundRect">
            <a:avLst>
              <a:gd name="adj" fmla="val 10000"/>
            </a:avLst>
          </a:prstGeom>
          <a:solidFill>
            <a:srgbClr val="0B1433"/>
          </a:solidFill>
          <a:ln w="12700">
            <a:solidFill>
              <a:srgbClr val="1B2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49300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FA8F5"/>
                </a:solidFill>
                <a:latin typeface="Segoe UI"/>
              </a:rPr>
              <a:t>L'Inspecteur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886200"/>
            <a:ext cx="3154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E8ECF5"/>
                </a:solidFill>
                <a:latin typeface="Segoe UI"/>
              </a:rPr>
              <a:t>Casque, gilet, équipement de sécurité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754880"/>
            <a:ext cx="10881360" cy="822960"/>
          </a:xfrm>
          <a:prstGeom prst="rect">
            <a:avLst/>
          </a:prstGeom>
          <a:solidFill>
            <a:srgbClr val="0B1433"/>
          </a:solidFill>
          <a:ln w="12700">
            <a:solidFill>
              <a:srgbClr val="2A6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84632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7C90B8"/>
                </a:solidFill>
                <a:latin typeface="Segoe UI"/>
              </a:rPr>
              <a:t>Chaque caméra journalise ses détections et ses narrations en JSON.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7C90B8"/>
                </a:solidFill>
                <a:latin typeface="Segoe UI"/>
              </a:rPr>
              <a:t>Un visage jamais vu devient « Inconnu 1, 2, 3... » — nommable à tout moment, sans jamais être perdu.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C90B8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C90B8"/>
                </a:solidFill>
                <a:latin typeface="Segoe UI"/>
              </a:rPr>
              <a:t>SENTINEL 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A8F5"/>
                </a:solidFill>
                <a:latin typeface="Segoe UI"/>
              </a:rPr>
              <a:t>AVANCEMENT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8ECF5"/>
                </a:solidFill>
                <a:latin typeface="Segoe UI"/>
              </a:rPr>
              <a:t>Ce qui est fait aujourd'hui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45920"/>
            <a:ext cx="822960" cy="38100"/>
          </a:xfrm>
          <a:prstGeom prst="rect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395728"/>
            <a:ext cx="128016" cy="128016"/>
          </a:xfrm>
          <a:prstGeom prst="ellipse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8ECF5"/>
                </a:solidFill>
                <a:latin typeface="Segoe UI"/>
              </a:rPr>
              <a:t>Multi-caméra, multi-bâtiment, accès par code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447288"/>
            <a:ext cx="128016" cy="128016"/>
          </a:xfrm>
          <a:prstGeom prst="ellipse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8ECF5"/>
                </a:solidFill>
                <a:latin typeface="Segoe UI"/>
              </a:rPr>
              <a:t>Détection comportementale : menace, feu, bagarre, chute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498848"/>
            <a:ext cx="128016" cy="128016"/>
          </a:xfrm>
          <a:prstGeom prst="ellipse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8ECF5"/>
                </a:solidFill>
                <a:latin typeface="Segoe UI"/>
              </a:rPr>
              <a:t>Reconnaissance faciale + autorisations par lieu</a:t>
            </a:r>
          </a:p>
        </p:txBody>
      </p:sp>
      <p:sp>
        <p:nvSpPr>
          <p:cNvPr id="12" name="Oval 11"/>
          <p:cNvSpPr/>
          <p:nvPr/>
        </p:nvSpPr>
        <p:spPr>
          <a:xfrm>
            <a:off x="6126480" y="2395728"/>
            <a:ext cx="128016" cy="128016"/>
          </a:xfrm>
          <a:prstGeom prst="ellipse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8ECF5"/>
                </a:solidFill>
                <a:latin typeface="Segoe UI"/>
              </a:rPr>
              <a:t>Genre, expression, vêtements, équipement de sécurité</a:t>
            </a:r>
          </a:p>
        </p:txBody>
      </p:sp>
      <p:sp>
        <p:nvSpPr>
          <p:cNvPr id="14" name="Oval 13"/>
          <p:cNvSpPr/>
          <p:nvPr/>
        </p:nvSpPr>
        <p:spPr>
          <a:xfrm>
            <a:off x="6126480" y="3447288"/>
            <a:ext cx="128016" cy="128016"/>
          </a:xfrm>
          <a:prstGeom prst="ellipse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33756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8ECF5"/>
                </a:solidFill>
                <a:latin typeface="Segoe UI"/>
              </a:rPr>
              <a:t>Présence prolongée détectée (rôdeur potentiel)</a:t>
            </a:r>
          </a:p>
        </p:txBody>
      </p:sp>
      <p:sp>
        <p:nvSpPr>
          <p:cNvPr id="16" name="Oval 15"/>
          <p:cNvSpPr/>
          <p:nvPr/>
        </p:nvSpPr>
        <p:spPr>
          <a:xfrm>
            <a:off x="6126480" y="4498848"/>
            <a:ext cx="128016" cy="128016"/>
          </a:xfrm>
          <a:prstGeom prst="ellipse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38912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8ECF5"/>
                </a:solidFill>
                <a:latin typeface="Segoe UI"/>
              </a:rPr>
              <a:t>Assistant conversationnel — réponses basées sur les données réelles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C90B8"/>
                </a:solidFill>
                <a:latin typeface="Segoe U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C90B8"/>
                </a:solidFill>
                <a:latin typeface="Segoe UI"/>
              </a:rPr>
              <a:t>SENTINEL 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FA8F5"/>
                </a:solidFill>
                <a:latin typeface="Segoe UI"/>
              </a:rPr>
              <a:t>PROCHAINES ÉTAPES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8ECF5"/>
                </a:solidFill>
                <a:latin typeface="Segoe UI"/>
              </a:rPr>
              <a:t>Ce qu'on teste et ajuste maintenant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45920"/>
            <a:ext cx="822960" cy="38100"/>
          </a:xfrm>
          <a:prstGeom prst="rect">
            <a:avLst/>
          </a:prstGeom>
          <a:solidFill>
            <a:srgbClr val="2A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377440"/>
            <a:ext cx="502920" cy="502920"/>
          </a:xfrm>
          <a:prstGeom prst="ellipse">
            <a:avLst/>
          </a:prstGeom>
          <a:solidFill>
            <a:srgbClr val="0B1433"/>
          </a:solidFill>
          <a:ln w="19050">
            <a:solidFill>
              <a:srgbClr val="2A6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6FA8F5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317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E8ECF5"/>
                </a:solidFill>
                <a:latin typeface="Segoe UI"/>
              </a:rPr>
              <a:t>Tests en conditions réelles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8346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7C90B8"/>
                </a:solidFill>
                <a:latin typeface="Segoe UI"/>
              </a:rPr>
              <a:t>Plusieurs personnes, plusieurs lieux, sur la durée.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rgbClr val="0B1433"/>
          </a:solidFill>
          <a:ln w="19050">
            <a:solidFill>
              <a:srgbClr val="2A6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6FA8F5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E8ECF5"/>
                </a:solidFill>
                <a:latin typeface="Segoe UI"/>
              </a:rPr>
              <a:t>Réglage des seuils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0690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7C90B8"/>
                </a:solidFill>
                <a:latin typeface="Segoe UI"/>
              </a:rPr>
              <a:t>Confiance des modèles, durée avant l'alerte rôdeur, faux positifs.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846320"/>
            <a:ext cx="502920" cy="502920"/>
          </a:xfrm>
          <a:prstGeom prst="ellipse">
            <a:avLst/>
          </a:prstGeom>
          <a:solidFill>
            <a:srgbClr val="0B1433"/>
          </a:solidFill>
          <a:ln w="19050">
            <a:solidFill>
              <a:srgbClr val="2A6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6FA8F5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8006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E8ECF5"/>
                </a:solidFill>
                <a:latin typeface="Segoe UI"/>
              </a:rPr>
              <a:t>Modèle cagoule / cache-nez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7C90B8"/>
                </a:solidFill>
                <a:latin typeface="Segoe UI"/>
              </a:rPr>
              <a:t>En cours d'entraînement, pas encore intégré à la chaîne.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465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7C90B8"/>
                </a:solidFill>
                <a:latin typeface="Segoe U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7C90B8"/>
                </a:solidFill>
                <a:latin typeface="Segoe UI"/>
              </a:rPr>
              <a:t>SENTINEL 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63040"/>
            <a:ext cx="2780359" cy="1463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2461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E8ECF5"/>
                </a:solidFill>
                <a:latin typeface="Segoe UI"/>
              </a:rPr>
              <a:t>SENTINEL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FA8F5"/>
                </a:solidFill>
                <a:latin typeface="Segoe UI"/>
              </a:rPr>
              <a:t>VOIR AVANT — AGIR À TEMPS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7C90B8"/>
                </a:solidFill>
                <a:latin typeface="Segoe UI"/>
              </a:rPr>
              <a:t>Merci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